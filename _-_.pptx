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64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-1097280"/>
            <a:ext cx="3291840" cy="3291840"/>
          </a:xfrm>
          <a:prstGeom prst="ellipse">
            <a:avLst/>
          </a:prstGeom>
          <a:solidFill>
            <a:srgbClr val="E56A8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-731520"/>
            <a:ext cx="2377440" cy="2377440"/>
          </a:xfrm>
          <a:prstGeom prst="ellipse">
            <a:avLst/>
          </a:prstGeom>
          <a:solidFill>
            <a:srgbClr val="B03A5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5303520"/>
            <a:ext cx="2194560" cy="2194560"/>
          </a:xfrm>
          <a:prstGeom prst="ellipse">
            <a:avLst/>
          </a:prstGeom>
          <a:solidFill>
            <a:srgbClr val="4F7A5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731520" y="5669280"/>
            <a:ext cx="1828800" cy="1828800"/>
          </a:xfrm>
          <a:prstGeom prst="ellipse">
            <a:avLst/>
          </a:prstGeom>
          <a:solidFill>
            <a:srgbClr val="E56A8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707070"/>
                </a:solidFill>
                <a:latin typeface="Calibri"/>
              </a:rPr>
              <a:t>ГАПОУ ИО «Ангарский техникум строительных технологий»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B03A5B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B03A5B"/>
                </a:solidFill>
                <a:latin typeface="Calibri"/>
              </a:rPr>
              <a:t>ИНТЕРНЕТ-МАГАЗИН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56A8A"/>
                </a:solidFill>
                <a:latin typeface="Calibri"/>
              </a:rPr>
              <a:t>цветочного салона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3886200"/>
            <a:ext cx="2468880" cy="0"/>
          </a:xfrm>
          <a:prstGeom prst="line">
            <a:avLst/>
          </a:prstGeom>
          <a:ln w="25400">
            <a:solidFill>
              <a:srgbClr val="B03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4F7A5C"/>
                </a:solidFill>
                <a:latin typeface="Calibri"/>
              </a:rPr>
              <a:t>Веб-приложение на Node.js, Express, EJS и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07070"/>
                </a:solidFill>
                <a:latin typeface="Calibri"/>
              </a:rPr>
              <a:t>Выполнила: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32120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B2B2B"/>
                </a:solidFill>
                <a:latin typeface="Calibri"/>
              </a:rPr>
              <a:t>Власова</a:t>
            </a:r>
            <a:r>
              <a:rPr sz="1600" b="1" dirty="0">
                <a:solidFill>
                  <a:srgbClr val="2B2B2B"/>
                </a:solidFill>
                <a:latin typeface="Calibri"/>
              </a:rPr>
              <a:t> М. 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0">
                <a:solidFill>
                  <a:srgbClr val="707070"/>
                </a:solidFill>
                <a:latin typeface="Calibri"/>
              </a:rPr>
              <a:t>Руководитель: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32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2B2B2B"/>
                </a:solidFill>
                <a:latin typeface="Calibri"/>
              </a:rPr>
              <a:t>Денисюк А. 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707070"/>
                </a:solidFill>
                <a:latin typeface="Calibri"/>
              </a:rPr>
              <a:t>Ангарск,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Почему интернет-магазин цветов — востребованный продукт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691640"/>
            <a:ext cx="69494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56A8A"/>
                </a:solidFill>
                <a:latin typeface="Calibri"/>
              </a:rPr>
              <a:t>● </a:t>
            </a:r>
            <a:r>
              <a:rPr sz="1600" b="0">
                <a:solidFill>
                  <a:srgbClr val="2B2B2B"/>
                </a:solidFill>
                <a:latin typeface="Calibri"/>
              </a:rPr>
              <a:t>Интернет-торговля занимает значительную долю розничных продаж — клиенты предпочитают оформлять заказы онлайн.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56A8A"/>
                </a:solidFill>
                <a:latin typeface="Calibri"/>
              </a:rPr>
              <a:t>● </a:t>
            </a:r>
            <a:r>
              <a:rPr sz="1600" b="0">
                <a:solidFill>
                  <a:srgbClr val="2B2B2B"/>
                </a:solidFill>
                <a:latin typeface="Calibri"/>
              </a:rPr>
              <a:t>Для цветочного бизнеса критичен визуальный выбор: покупатель решает по фото букета, цене, составу и наличию доставки.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56A8A"/>
                </a:solidFill>
                <a:latin typeface="Calibri"/>
              </a:rPr>
              <a:t>● </a:t>
            </a:r>
            <a:r>
              <a:rPr sz="1600" b="0">
                <a:solidFill>
                  <a:srgbClr val="2B2B2B"/>
                </a:solidFill>
                <a:latin typeface="Calibri"/>
              </a:rPr>
              <a:t>Магазину нужна единая система: каталог, корзина, заказы, авторизация, загрузка изображений и админ-панель.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56A8A"/>
                </a:solidFill>
                <a:latin typeface="Calibri"/>
              </a:rPr>
              <a:t>● </a:t>
            </a:r>
            <a:r>
              <a:rPr sz="1600" b="0">
                <a:solidFill>
                  <a:srgbClr val="2B2B2B"/>
                </a:solidFill>
                <a:latin typeface="Calibri"/>
              </a:rPr>
              <a:t>Сайт-витрина не решает задачу: данные должны храниться в БД и обновляться без правки HTML.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E56A8A"/>
                </a:solidFill>
                <a:latin typeface="Calibri"/>
              </a:rPr>
              <a:t>● </a:t>
            </a:r>
            <a:r>
              <a:rPr sz="1600" b="0">
                <a:solidFill>
                  <a:srgbClr val="2B2B2B"/>
                </a:solidFill>
                <a:latin typeface="Calibri"/>
              </a:rPr>
              <a:t>Тема имеет учебную значимость — на одном проекте отрабатываются все ключевые этапы веб-разработки.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91640"/>
            <a:ext cx="3566160" cy="448056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03A5B"/>
                </a:solidFill>
                <a:latin typeface="Calibri"/>
              </a:rPr>
              <a:t>Что даёт магазину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систематизация ассортимента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быстрое обновление каталога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приём и обработка заказов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единая клиентская база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удобство для покупателя 24/7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Цель и задачи работы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1691640"/>
            <a:ext cx="10607040" cy="114300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Разработать веб-приложение «Интернет-магазин цветов» для просмотра продукции, работы с корзиной, оформления заказов и управления ассортиментом через административную панель.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5349240" cy="1429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изучить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предметную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область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онлайн-продажи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цветов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рассмотреть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HTML, CSS, JavaScript;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изучить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клиент-серверную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архитектуру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lang="ru-RU" sz="1400" b="0" dirty="0">
                <a:solidFill>
                  <a:srgbClr val="2B2B2B"/>
                </a:solidFill>
                <a:latin typeface="Calibri"/>
              </a:rPr>
              <a:t>изучить и 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примен</a:t>
            </a:r>
            <a:r>
              <a:rPr lang="ru-RU" sz="1400" b="0" dirty="0" err="1">
                <a:solidFill>
                  <a:srgbClr val="2B2B2B"/>
                </a:solidFill>
                <a:latin typeface="Calibri"/>
              </a:rPr>
              <a:t>ить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Node.js и Express;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рассмотреть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B2B2B"/>
                </a:solidFill>
                <a:latin typeface="Calibri"/>
              </a:rPr>
              <a:t>шаблонизатор</a:t>
            </a:r>
            <a:r>
              <a:rPr sz="1400" b="0" dirty="0">
                <a:solidFill>
                  <a:srgbClr val="2B2B2B"/>
                </a:solidFill>
                <a:latin typeface="Calibri"/>
              </a:rPr>
              <a:t> EJS;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429000"/>
            <a:ext cx="53492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>
                <a:solidFill>
                  <a:srgbClr val="2B2B2B"/>
                </a:solidFill>
                <a:latin typeface="Calibri"/>
              </a:rPr>
              <a:t>описать работу с базой данных MySQL;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>
                <a:solidFill>
                  <a:srgbClr val="2B2B2B"/>
                </a:solidFill>
                <a:latin typeface="Calibri"/>
              </a:rPr>
              <a:t>рассмотреть Multer для загрузки изображений;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>
                <a:solidFill>
                  <a:srgbClr val="2B2B2B"/>
                </a:solidFill>
                <a:latin typeface="Calibri"/>
              </a:rPr>
              <a:t>описать bcryptjs для безопасного хранения паролей;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>
                <a:solidFill>
                  <a:srgbClr val="2B2B2B"/>
                </a:solidFill>
                <a:latin typeface="Calibri"/>
              </a:rPr>
              <a:t>реализовать каталог, корзину и оформление заказа;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56A8A"/>
                </a:solidFill>
                <a:latin typeface="Calibri"/>
              </a:rPr>
              <a:t>● </a:t>
            </a:r>
            <a:r>
              <a:rPr sz="1400" b="0">
                <a:solidFill>
                  <a:srgbClr val="2B2B2B"/>
                </a:solidFill>
                <a:latin typeface="Calibri"/>
              </a:rPr>
              <a:t>реализовать админ-панель и проверить работу системы.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Предметная область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Онлайн-продажа цветочной продукции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1691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Интернет-магазин цветов — веб-приложение для демонстрации продукции, оформления заказов и управления ассортиментом. Система обслуживает два типа пользователей.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5212080" cy="333756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5212080" cy="59436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8986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Покупатель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6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каталога и карточки товара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регистрация и вход в личный кабинет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корзина: добавление, изменение, удаление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оформление заказа и история покупок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акций магазина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88920"/>
            <a:ext cx="5212080" cy="333756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788920"/>
            <a:ext cx="5212080" cy="59436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8986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Администратор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управление товарами и категориями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загрузка изображений товаров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управление акциями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и обработка заказов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разграничение прав доступа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Выбор технологий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Технологический стек проекта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16916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91440" cy="1417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6A8A"/>
                </a:solidFill>
                <a:latin typeface="Calibri"/>
              </a:rPr>
              <a:t>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серверная платформа, JS на сервере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916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691640"/>
            <a:ext cx="91440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828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03A5B"/>
                </a:solidFill>
                <a:latin typeface="Calibri"/>
              </a:rPr>
              <a:t>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маршрутизация, middleware, формы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6916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691640"/>
            <a:ext cx="91440" cy="141732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F7A5C"/>
                </a:solidFill>
                <a:latin typeface="Calibri"/>
              </a:rPr>
              <a:t>EJS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шаблонизатор страниц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918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291840"/>
            <a:ext cx="91440" cy="1417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429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6A8A"/>
                </a:solidFill>
                <a:latin typeface="Calibri"/>
              </a:rPr>
              <a:t>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862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хранение всех данных приложения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2918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3291840"/>
            <a:ext cx="91440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429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03A5B"/>
                </a:solidFill>
                <a:latin typeface="Calibri"/>
              </a:rPr>
              <a:t>HTML / CSS /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8862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клиентская часть и интерфейс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2918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291840"/>
            <a:ext cx="91440" cy="141732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4290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F7A5C"/>
                </a:solidFill>
                <a:latin typeface="Calibri"/>
              </a:rPr>
              <a:t>VS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862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редактор разработки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920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892040"/>
            <a:ext cx="91440" cy="1417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5029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56A8A"/>
                </a:solidFill>
                <a:latin typeface="Calibri"/>
              </a:rPr>
              <a:t>bcryptjs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86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хеширование паролей пользователей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8920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80560" y="4892040"/>
            <a:ext cx="91440" cy="1417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09160" y="5029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03A5B"/>
                </a:solidFill>
                <a:latin typeface="Calibri"/>
              </a:rPr>
              <a:t>Multer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486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загрузка изображений товаров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4892040"/>
            <a:ext cx="3611880" cy="141732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80" y="4892040"/>
            <a:ext cx="91440" cy="141732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5029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F7A5C"/>
                </a:solidFill>
                <a:latin typeface="Calibri"/>
              </a:rPr>
              <a:t>express-session</a:t>
            </a:r>
          </a:p>
          <a:p>
            <a:pPr algn="l"/>
            <a:r>
              <a:rPr sz="1600" b="1">
                <a:solidFill>
                  <a:srgbClr val="4F7A5C"/>
                </a:solidFill>
                <a:latin typeface="Calibri"/>
              </a:rPr>
              <a:t>+ MySQL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486400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сессии и авторизация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Архитектура приложения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Модульная структура по принципу MVC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-1" y="1828800"/>
            <a:ext cx="1676101" cy="960100"/>
          </a:xfrm>
          <a:prstGeom prst="round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Клиент / Браузер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787408" y="2217420"/>
            <a:ext cx="204402" cy="0"/>
          </a:xfrm>
          <a:prstGeom prst="line">
            <a:avLst/>
          </a:prstGeom>
          <a:ln w="22225">
            <a:solidFill>
              <a:srgbClr val="B03A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03118" y="1828800"/>
            <a:ext cx="1676101" cy="960100"/>
          </a:xfrm>
          <a:prstGeom prst="round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Маршруты
routes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3890527" y="2217420"/>
            <a:ext cx="204402" cy="0"/>
          </a:xfrm>
          <a:prstGeom prst="line">
            <a:avLst/>
          </a:prstGeom>
          <a:ln w="22225">
            <a:solidFill>
              <a:srgbClr val="B03A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37" y="1828800"/>
            <a:ext cx="1676101" cy="960100"/>
          </a:xfrm>
          <a:prstGeom prst="round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Middleware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5993646" y="2217420"/>
            <a:ext cx="204402" cy="0"/>
          </a:xfrm>
          <a:prstGeom prst="line">
            <a:avLst/>
          </a:prstGeom>
          <a:ln w="22225">
            <a:solidFill>
              <a:srgbClr val="B03A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6" y="1828800"/>
            <a:ext cx="1676101" cy="960100"/>
          </a:xfrm>
          <a:prstGeom prst="round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Контроллеры
controllers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8096765" y="2217420"/>
            <a:ext cx="204402" cy="0"/>
          </a:xfrm>
          <a:prstGeom prst="line">
            <a:avLst/>
          </a:prstGeom>
          <a:ln w="22225">
            <a:solidFill>
              <a:srgbClr val="B03A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75" y="1828800"/>
            <a:ext cx="1676101" cy="960100"/>
          </a:xfrm>
          <a:prstGeom prst="round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Модели
models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10199884" y="2217420"/>
            <a:ext cx="204402" cy="0"/>
          </a:xfrm>
          <a:prstGeom prst="line">
            <a:avLst/>
          </a:prstGeom>
          <a:ln w="22225">
            <a:solidFill>
              <a:srgbClr val="B03A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594" y="1828800"/>
            <a:ext cx="1676101" cy="960100"/>
          </a:xfrm>
          <a:prstGeom prst="round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718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03A5B"/>
                </a:solidFill>
                <a:latin typeface="Calibri"/>
              </a:rPr>
              <a:t>Каталоги проекта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53492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config — </a:t>
            </a:r>
            <a:r>
              <a:rPr sz="1300">
                <a:solidFill>
                  <a:srgbClr val="2B2B2B"/>
                </a:solidFill>
                <a:latin typeface="Calibri"/>
              </a:rPr>
              <a:t>подключение к БД и хранилище сессий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controllers — </a:t>
            </a:r>
            <a:r>
              <a:rPr sz="1300">
                <a:solidFill>
                  <a:srgbClr val="2B2B2B"/>
                </a:solidFill>
                <a:latin typeface="Calibri"/>
              </a:rPr>
              <a:t>бизнес-логика приложения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models — </a:t>
            </a:r>
            <a:r>
              <a:rPr sz="1300">
                <a:solidFill>
                  <a:srgbClr val="2B2B2B"/>
                </a:solidFill>
                <a:latin typeface="Calibri"/>
              </a:rPr>
              <a:t>работа с данными MySQL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routes — </a:t>
            </a:r>
            <a:r>
              <a:rPr sz="1300">
                <a:solidFill>
                  <a:srgbClr val="2B2B2B"/>
                </a:solidFill>
                <a:latin typeface="Calibri"/>
              </a:rPr>
              <a:t>маршруты страниц и действий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middleware — </a:t>
            </a:r>
            <a:r>
              <a:rPr sz="1300">
                <a:solidFill>
                  <a:srgbClr val="2B2B2B"/>
                </a:solidFill>
                <a:latin typeface="Calibri"/>
              </a:rPr>
              <a:t>проверка авторизации и прав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53492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views — </a:t>
            </a:r>
            <a:r>
              <a:rPr sz="1300">
                <a:solidFill>
                  <a:srgbClr val="2B2B2B"/>
                </a:solidFill>
                <a:latin typeface="Calibri"/>
              </a:rPr>
              <a:t>EJS-шаблоны страниц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public — </a:t>
            </a:r>
            <a:r>
              <a:rPr sz="1300">
                <a:solidFill>
                  <a:srgbClr val="2B2B2B"/>
                </a:solidFill>
                <a:latin typeface="Calibri"/>
              </a:rPr>
              <a:t>статические файлы (CSS, JS, изображения)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public/uploads — </a:t>
            </a:r>
            <a:r>
              <a:rPr sz="1300">
                <a:solidFill>
                  <a:srgbClr val="2B2B2B"/>
                </a:solidFill>
                <a:latin typeface="Calibri"/>
              </a:rPr>
              <a:t>загруженные изображения товаров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sql — </a:t>
            </a:r>
            <a:r>
              <a:rPr sz="1300">
                <a:solidFill>
                  <a:srgbClr val="2B2B2B"/>
                </a:solidFill>
                <a:latin typeface="Calibri"/>
              </a:rPr>
              <a:t>SQL-скрипт инициализации БД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1">
                <a:solidFill>
                  <a:srgbClr val="2B2B2B"/>
                </a:solidFill>
                <a:latin typeface="Calibri"/>
              </a:rPr>
              <a:t>utils — </a:t>
            </a:r>
            <a:r>
              <a:rPr sz="1300">
                <a:solidFill>
                  <a:srgbClr val="2B2B2B"/>
                </a:solidFill>
                <a:latin typeface="Calibri"/>
              </a:rPr>
              <a:t>вспомогательные функции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База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MySQL: основные сущности интернет-магазина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1691640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2697480" cy="274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099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пользователи и их роли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91640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6160" y="1691640"/>
            <a:ext cx="2697480" cy="274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0" y="17099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0574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товары и их характеристики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91640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691640"/>
            <a:ext cx="2697480" cy="27432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7099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574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категории товаров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691640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691640"/>
            <a:ext cx="2697480" cy="274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7099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0574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корзина пользователя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53512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953512"/>
            <a:ext cx="2697480" cy="274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29718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3192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оформленные заказы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2953512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66160" y="2953512"/>
            <a:ext cx="2697480" cy="27432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49040" y="29718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order_items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3192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позиции в каждом заказе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953512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2953512"/>
            <a:ext cx="2697480" cy="27432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9718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promotions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3192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акции и спецпредложения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953512"/>
            <a:ext cx="2697480" cy="109728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0" y="2953512"/>
            <a:ext cx="2697480" cy="27432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0" y="29718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3192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пользовательские сессии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03A5B"/>
                </a:solidFill>
                <a:latin typeface="Calibri"/>
              </a:rPr>
              <a:t>Особенности модели данных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89204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товары связаны с категориями и могут участвовать в акциях;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корзина и заказы хранятся отдельно — после оформления данные переходят в историю покупок;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пароли пользователей хранятся в виде bcrypt-хеша, сессии сохраняются в MySQL-хранилище;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SQL-скрипт инициализации базы лежит в каталоге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Основной функционал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Что умеет приложение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1691640"/>
            <a:ext cx="5440680" cy="54864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Пользователь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5440680" cy="402336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98348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регистрация и авторизация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главной и каталога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подробная страница товара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корзина: добавление, изменение, удаление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оформление заказа и страница успеха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личный кабинет и история заказов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акций и спецпредложений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91640"/>
            <a:ext cx="5029200" cy="548640"/>
          </a:xfrm>
          <a:prstGeom prst="rect">
            <a:avLst/>
          </a:prstGeom>
          <a:solidFill>
            <a:srgbClr val="4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Администратор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240280"/>
            <a:ext cx="5029200" cy="402336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57200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вход в административную панель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добавление и редактирование товаров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удаление товаров и управление категориями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загрузка изображений (Multer)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управление акциями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просмотр и обработка заказов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4F7A5C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разграничение прав доступа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Интерфейс и возможности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07070"/>
                </a:solidFill>
                <a:latin typeface="Calibri"/>
              </a:rPr>
              <a:t>Внешний вид разработанного приложения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1645920"/>
            <a:ext cx="4983480" cy="41148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" rIns="13716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Главная страница / каталог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4983480" cy="1920240"/>
          </a:xfrm>
          <a:prstGeom prst="rect">
            <a:avLst/>
          </a:prstGeom>
          <a:solidFill>
            <a:srgbClr val="FAF5F7"/>
          </a:solidFill>
          <a:ln w="19050">
            <a:solidFill>
              <a:srgbClr val="C99B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400" b="1" dirty="0">
                <a:solidFill>
                  <a:srgbClr val="C99BA8"/>
                </a:solidFill>
                <a:latin typeface="Calibri"/>
              </a:rPr>
              <a:t>🌸  </a:t>
            </a:r>
            <a:r>
              <a:rPr sz="1400" b="1" dirty="0" err="1">
                <a:solidFill>
                  <a:srgbClr val="C99BA8"/>
                </a:solidFill>
                <a:latin typeface="Calibri"/>
              </a:rPr>
              <a:t>Место</a:t>
            </a:r>
            <a:r>
              <a:rPr sz="1400" b="1" dirty="0">
                <a:solidFill>
                  <a:srgbClr val="C99BA8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C99BA8"/>
                </a:solidFill>
                <a:latin typeface="Calibri"/>
              </a:rPr>
              <a:t>для</a:t>
            </a:r>
            <a:r>
              <a:rPr sz="1400" b="1" dirty="0">
                <a:solidFill>
                  <a:srgbClr val="C99BA8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C99BA8"/>
                </a:solidFill>
                <a:latin typeface="Calibri"/>
              </a:rPr>
              <a:t>скриншота</a:t>
            </a:r>
            <a:endParaRPr sz="1400" b="1" dirty="0">
              <a:solidFill>
                <a:srgbClr val="C99BA8"/>
              </a:solidFill>
              <a:latin typeface="Calibri"/>
            </a:endParaRPr>
          </a:p>
          <a:p>
            <a:pPr algn="ctr"/>
            <a:r>
              <a:rPr sz="1000" i="1" dirty="0">
                <a:solidFill>
                  <a:srgbClr val="707070"/>
                </a:solidFill>
                <a:latin typeface="Calibri"/>
              </a:rPr>
              <a:t>(</a:t>
            </a:r>
            <a:r>
              <a:rPr sz="1000" i="1" dirty="0" err="1">
                <a:solidFill>
                  <a:srgbClr val="707070"/>
                </a:solidFill>
                <a:latin typeface="Calibri"/>
              </a:rPr>
              <a:t>вставьте</a:t>
            </a:r>
            <a:r>
              <a:rPr sz="1000" i="1" dirty="0">
                <a:solidFill>
                  <a:srgbClr val="707070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707070"/>
                </a:solidFill>
                <a:latin typeface="Calibri"/>
              </a:rPr>
              <a:t>изображение</a:t>
            </a:r>
            <a:r>
              <a:rPr sz="1000" i="1" dirty="0">
                <a:solidFill>
                  <a:srgbClr val="707070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707070"/>
                </a:solidFill>
                <a:latin typeface="Calibri"/>
              </a:rPr>
              <a:t>сюда</a:t>
            </a:r>
            <a:r>
              <a:rPr sz="1000" i="1" dirty="0">
                <a:solidFill>
                  <a:srgbClr val="707070"/>
                </a:solidFill>
                <a:latin typeface="Calibr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4983480" cy="41148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" rIns="13716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Карточка товара и корзина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57400"/>
            <a:ext cx="4983480" cy="1920240"/>
          </a:xfrm>
          <a:prstGeom prst="rect">
            <a:avLst/>
          </a:prstGeom>
          <a:solidFill>
            <a:srgbClr val="FAF5F7"/>
          </a:solidFill>
          <a:ln w="19050">
            <a:solidFill>
              <a:srgbClr val="C99B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400" b="1">
                <a:solidFill>
                  <a:srgbClr val="C99BA8"/>
                </a:solidFill>
                <a:latin typeface="Calibri"/>
              </a:rPr>
              <a:t>🌸  Место для скриншота</a:t>
            </a:r>
          </a:p>
          <a:p>
            <a:pPr algn="ctr"/>
            <a:r>
              <a:rPr sz="1000" i="1">
                <a:solidFill>
                  <a:srgbClr val="707070"/>
                </a:solidFill>
                <a:latin typeface="Calibri"/>
              </a:rPr>
              <a:t>(вставьте изображение сюда)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69080"/>
            <a:ext cx="4983480" cy="41148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" rIns="13716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Оформление заказа / профиль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69080"/>
            <a:ext cx="4983480" cy="411480"/>
          </a:xfrm>
          <a:prstGeom prst="rect">
            <a:avLst/>
          </a:prstGeom>
          <a:solidFill>
            <a:srgbClr val="E56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" rIns="13716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Административная панель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4983480" cy="1920240"/>
          </a:xfrm>
          <a:prstGeom prst="rect">
            <a:avLst/>
          </a:prstGeom>
          <a:solidFill>
            <a:srgbClr val="FAF5F7"/>
          </a:solidFill>
          <a:ln w="19050">
            <a:solidFill>
              <a:srgbClr val="C99B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sz="1400" b="1">
                <a:solidFill>
                  <a:srgbClr val="C99BA8"/>
                </a:solidFill>
                <a:latin typeface="Calibri"/>
              </a:rPr>
              <a:t>🌸  Место для скриншота</a:t>
            </a:r>
          </a:p>
          <a:p>
            <a:pPr algn="ctr"/>
            <a:r>
              <a:rPr sz="1000" i="1">
                <a:solidFill>
                  <a:srgbClr val="707070"/>
                </a:solidFill>
                <a:latin typeface="Calibri"/>
              </a:rPr>
              <a:t>(вставьте изображение сюда)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01213EB-1FBB-4431-9E7F-4330FA939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44" y="1596427"/>
            <a:ext cx="5665103" cy="413022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758563-2CB5-4DD8-A172-FDFEE72CD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9" y="2067877"/>
            <a:ext cx="5013960" cy="202818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C61D73A-D806-4F63-BA20-E5BF41F50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19" y="4536757"/>
            <a:ext cx="5044441" cy="1890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5760720"/>
            <a:ext cx="2194560" cy="2194560"/>
          </a:xfrm>
          <a:prstGeom prst="ellipse">
            <a:avLst/>
          </a:prstGeom>
          <a:solidFill>
            <a:srgbClr val="F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09728" cy="640080"/>
          </a:xfrm>
          <a:prstGeom prst="rect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B03A5B"/>
                </a:solidFill>
                <a:latin typeface="Calibri"/>
              </a:rPr>
              <a:t>Итоги и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417320"/>
            <a:ext cx="10744200" cy="0"/>
          </a:xfrm>
          <a:prstGeom prst="line">
            <a:avLst/>
          </a:prstGeom>
          <a:ln w="15875">
            <a:solidFill>
              <a:srgbClr val="E56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1737360"/>
            <a:ext cx="3520440" cy="228600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E5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56A8A"/>
                </a:solidFill>
                <a:latin typeface="Calibri"/>
              </a:rPr>
              <a:t>Цель достигнута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Разработано полнофункциональное веб-приложение «Интернет-магазин цветов» с пользовательской и административной частями.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520440" cy="228600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B0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11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03A5B"/>
                </a:solidFill>
                <a:latin typeface="Calibri"/>
              </a:rPr>
              <a:t>Задачи решены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Изучены технологии стека Node.js + Express + EJS + MySQL и применены для реализации каталога, корзины, заказов и админ-панели.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3520440" cy="2286000"/>
          </a:xfrm>
          <a:prstGeom prst="rect">
            <a:avLst/>
          </a:prstGeom>
          <a:solidFill>
            <a:srgbClr val="FD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1965960"/>
            <a:ext cx="640080" cy="640080"/>
          </a:xfrm>
          <a:prstGeom prst="ellipse">
            <a:avLst/>
          </a:prstGeom>
          <a:solidFill>
            <a:srgbClr val="4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F7A5C"/>
                </a:solidFill>
                <a:latin typeface="Calibri"/>
              </a:rPr>
              <a:t>Практическая значимость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432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>Получен учебный продукт, демонстрирующий полный цикл интернет-торговли и пригодный к расширению (оплата, доставка, уведомления).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03A5B"/>
                </a:solidFill>
                <a:latin typeface="Calibri"/>
              </a:rPr>
              <a:t>Ключевые реализованные механизмы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5349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модульная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MVC-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структура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приложения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регистрация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авторизация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и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сессии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хеширование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паролей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через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bcryptjs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dirty="0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разграничение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прав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пользователя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 и </a:t>
            </a:r>
            <a:r>
              <a:rPr sz="1300" b="0" dirty="0" err="1">
                <a:solidFill>
                  <a:srgbClr val="2B2B2B"/>
                </a:solidFill>
                <a:latin typeface="Calibri"/>
              </a:rPr>
              <a:t>администратора</a:t>
            </a:r>
            <a:r>
              <a:rPr sz="1300" b="0" dirty="0">
                <a:solidFill>
                  <a:srgbClr val="2B2B2B"/>
                </a:solidFill>
                <a:latin typeface="Calibri"/>
              </a:rPr>
              <a:t>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572000"/>
            <a:ext cx="5349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корзина, оформление и история заказов;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загрузка изображений товаров (Multer);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административное управление ассортиментом;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56A8A"/>
                </a:solidFill>
                <a:latin typeface="Calibri"/>
              </a:rPr>
              <a:t>● </a:t>
            </a:r>
            <a:r>
              <a:rPr sz="1300" b="0">
                <a:solidFill>
                  <a:srgbClr val="2B2B2B"/>
                </a:solidFill>
                <a:latin typeface="Calibri"/>
              </a:rPr>
              <a:t>валидация данных и обработка ошибок.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6016752"/>
            <a:ext cx="10607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Calibri"/>
              </a:rPr>
              <a:t>Спасибо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внимание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838</Words>
  <Application>Microsoft Office PowerPoint</Application>
  <PresentationFormat>Широкоэкранный</PresentationFormat>
  <Paragraphs>165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chapa</cp:lastModifiedBy>
  <cp:revision>4</cp:revision>
  <dcterms:created xsi:type="dcterms:W3CDTF">2013-01-27T09:14:16Z</dcterms:created>
  <dcterms:modified xsi:type="dcterms:W3CDTF">2026-05-05T13:47:02Z</dcterms:modified>
  <cp:category/>
</cp:coreProperties>
</file>